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Mango AC" charset="1" panose="00000000000000000000"/>
      <p:regular r:id="rId12"/>
    </p:embeddedFont>
    <p:embeddedFont>
      <p:font typeface="Poppins" charset="1" panose="000005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07805"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778372" y="-1470699"/>
            <a:ext cx="6433931" cy="7642899"/>
          </a:xfrm>
          <a:custGeom>
            <a:avLst/>
            <a:gdLst/>
            <a:ahLst/>
            <a:cxnLst/>
            <a:rect r="r" b="b" t="t" l="l"/>
            <a:pathLst>
              <a:path h="7642899" w="6433931">
                <a:moveTo>
                  <a:pt x="0" y="0"/>
                </a:moveTo>
                <a:lnTo>
                  <a:pt x="6433931" y="0"/>
                </a:lnTo>
                <a:lnTo>
                  <a:pt x="6433931" y="7642899"/>
                </a:lnTo>
                <a:lnTo>
                  <a:pt x="0" y="76428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true" rot="0">
            <a:off x="14297025" y="3789985"/>
            <a:ext cx="6433931" cy="7642899"/>
          </a:xfrm>
          <a:custGeom>
            <a:avLst/>
            <a:gdLst/>
            <a:ahLst/>
            <a:cxnLst/>
            <a:rect r="r" b="b" t="t" l="l"/>
            <a:pathLst>
              <a:path h="7642899" w="6433931">
                <a:moveTo>
                  <a:pt x="6433931" y="7642899"/>
                </a:moveTo>
                <a:lnTo>
                  <a:pt x="0" y="7642899"/>
                </a:lnTo>
                <a:lnTo>
                  <a:pt x="0" y="0"/>
                </a:lnTo>
                <a:lnTo>
                  <a:pt x="6433931" y="0"/>
                </a:lnTo>
                <a:lnTo>
                  <a:pt x="6433931" y="764289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198756">
            <a:off x="4636284" y="391807"/>
            <a:ext cx="1416453" cy="1704702"/>
          </a:xfrm>
          <a:custGeom>
            <a:avLst/>
            <a:gdLst/>
            <a:ahLst/>
            <a:cxnLst/>
            <a:rect r="r" b="b" t="t" l="l"/>
            <a:pathLst>
              <a:path h="1704702" w="1416453">
                <a:moveTo>
                  <a:pt x="0" y="0"/>
                </a:moveTo>
                <a:lnTo>
                  <a:pt x="1416453" y="0"/>
                </a:lnTo>
                <a:lnTo>
                  <a:pt x="1416453" y="1704702"/>
                </a:lnTo>
                <a:lnTo>
                  <a:pt x="0" y="17047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2039624" y="2454132"/>
            <a:ext cx="14325622" cy="3738678"/>
          </a:xfrm>
          <a:prstGeom prst="rect">
            <a:avLst/>
          </a:prstGeom>
        </p:spPr>
        <p:txBody>
          <a:bodyPr anchor="t" rtlCol="false" tIns="0" lIns="0" bIns="0" rIns="0">
            <a:spAutoFit/>
          </a:bodyPr>
          <a:lstStyle/>
          <a:p>
            <a:pPr algn="ctr">
              <a:lnSpc>
                <a:spcPts val="13791"/>
              </a:lnSpc>
            </a:pPr>
            <a:r>
              <a:rPr lang="en-US" sz="12204">
                <a:solidFill>
                  <a:srgbClr val="A74B4B"/>
                </a:solidFill>
                <a:latin typeface="Mango AC"/>
                <a:ea typeface="Mango AC"/>
                <a:cs typeface="Mango AC"/>
                <a:sym typeface="Mango AC"/>
              </a:rPr>
              <a:t>PERKEMBANGAN TEKNOLOGI</a:t>
            </a:r>
          </a:p>
        </p:txBody>
      </p:sp>
      <p:sp>
        <p:nvSpPr>
          <p:cNvPr name="Freeform 9" id="9"/>
          <p:cNvSpPr/>
          <p:nvPr/>
        </p:nvSpPr>
        <p:spPr>
          <a:xfrm flipH="false" flipV="false" rot="0">
            <a:off x="16365246" y="4818685"/>
            <a:ext cx="1601031" cy="2057400"/>
          </a:xfrm>
          <a:custGeom>
            <a:avLst/>
            <a:gdLst/>
            <a:ahLst/>
            <a:cxnLst/>
            <a:rect r="r" b="b" t="t" l="l"/>
            <a:pathLst>
              <a:path h="2057400" w="1601031">
                <a:moveTo>
                  <a:pt x="0" y="0"/>
                </a:moveTo>
                <a:lnTo>
                  <a:pt x="1601032" y="0"/>
                </a:lnTo>
                <a:lnTo>
                  <a:pt x="1601032"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438593" y="3218675"/>
            <a:ext cx="1601031" cy="2057400"/>
          </a:xfrm>
          <a:custGeom>
            <a:avLst/>
            <a:gdLst/>
            <a:ahLst/>
            <a:cxnLst/>
            <a:rect r="r" b="b" t="t" l="l"/>
            <a:pathLst>
              <a:path h="2057400" w="1601031">
                <a:moveTo>
                  <a:pt x="0" y="0"/>
                </a:moveTo>
                <a:lnTo>
                  <a:pt x="1601031" y="0"/>
                </a:lnTo>
                <a:lnTo>
                  <a:pt x="1601031"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true" rot="0">
            <a:off x="13084388" y="-530082"/>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2198756">
            <a:off x="11645160" y="8571137"/>
            <a:ext cx="1141940" cy="1374326"/>
          </a:xfrm>
          <a:custGeom>
            <a:avLst/>
            <a:gdLst/>
            <a:ahLst/>
            <a:cxnLst/>
            <a:rect r="r" b="b" t="t" l="l"/>
            <a:pathLst>
              <a:path h="1374326" w="1141940">
                <a:moveTo>
                  <a:pt x="0" y="0"/>
                </a:moveTo>
                <a:lnTo>
                  <a:pt x="1141941" y="0"/>
                </a:lnTo>
                <a:lnTo>
                  <a:pt x="1141941" y="1374326"/>
                </a:lnTo>
                <a:lnTo>
                  <a:pt x="0" y="13743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1055429">
            <a:off x="8403473" y="-406459"/>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1182383">
            <a:off x="5520834" y="8805275"/>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3968637" y="7082821"/>
            <a:ext cx="8531111" cy="1499652"/>
          </a:xfrm>
          <a:prstGeom prst="rect">
            <a:avLst/>
          </a:prstGeom>
        </p:spPr>
        <p:txBody>
          <a:bodyPr anchor="t" rtlCol="false" tIns="0" lIns="0" bIns="0" rIns="0">
            <a:spAutoFit/>
          </a:bodyPr>
          <a:lstStyle/>
          <a:p>
            <a:pPr algn="ctr">
              <a:lnSpc>
                <a:spcPts val="3770"/>
              </a:lnSpc>
            </a:pPr>
            <a:r>
              <a:rPr lang="en-US" sz="3336">
                <a:solidFill>
                  <a:srgbClr val="A74B4B"/>
                </a:solidFill>
                <a:latin typeface="Mango AC"/>
                <a:ea typeface="Mango AC"/>
                <a:cs typeface="Mango AC"/>
                <a:sym typeface="Mango AC"/>
              </a:rPr>
              <a:t>DIBUAT OLEH : TIFATUN KHASANAH </a:t>
            </a:r>
          </a:p>
          <a:p>
            <a:pPr algn="ctr">
              <a:lnSpc>
                <a:spcPts val="3770"/>
              </a:lnSpc>
            </a:pPr>
            <a:r>
              <a:rPr lang="en-US" sz="3336">
                <a:solidFill>
                  <a:srgbClr val="A74B4B"/>
                </a:solidFill>
                <a:latin typeface="Mango AC"/>
                <a:ea typeface="Mango AC"/>
                <a:cs typeface="Mango AC"/>
                <a:sym typeface="Mango AC"/>
              </a:rPr>
              <a:t>                      FEBIOLLA MAULIDYA </a:t>
            </a:r>
          </a:p>
          <a:p>
            <a:pPr algn="ctr">
              <a:lnSpc>
                <a:spcPts val="3770"/>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58138"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547077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506961" y="1149061"/>
            <a:ext cx="19301923" cy="1301694"/>
          </a:xfrm>
          <a:prstGeom prst="rect">
            <a:avLst/>
          </a:prstGeom>
        </p:spPr>
        <p:txBody>
          <a:bodyPr anchor="t" rtlCol="false" tIns="0" lIns="0" bIns="0" rIns="0">
            <a:spAutoFit/>
          </a:bodyPr>
          <a:lstStyle/>
          <a:p>
            <a:pPr algn="ctr">
              <a:lnSpc>
                <a:spcPts val="8960"/>
              </a:lnSpc>
            </a:pPr>
            <a:r>
              <a:rPr lang="en-US" sz="7929">
                <a:solidFill>
                  <a:srgbClr val="A74B4B"/>
                </a:solidFill>
                <a:latin typeface="Mango AC"/>
                <a:ea typeface="Mango AC"/>
                <a:cs typeface="Mango AC"/>
                <a:sym typeface="Mango AC"/>
              </a:rPr>
              <a:t>PENGERTIAN</a:t>
            </a:r>
          </a:p>
        </p:txBody>
      </p:sp>
      <p:sp>
        <p:nvSpPr>
          <p:cNvPr name="Freeform 7" id="7"/>
          <p:cNvSpPr/>
          <p:nvPr/>
        </p:nvSpPr>
        <p:spPr>
          <a:xfrm flipH="true" flipV="true" rot="0">
            <a:off x="13719388" y="-527893"/>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48214" y="355463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198216">
            <a:off x="-1357855" y="122668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270613">
            <a:off x="15905487" y="7159333"/>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819249" y="3284996"/>
            <a:ext cx="15078208" cy="3787850"/>
          </a:xfrm>
          <a:prstGeom prst="rect">
            <a:avLst/>
          </a:prstGeom>
        </p:spPr>
        <p:txBody>
          <a:bodyPr anchor="t" rtlCol="false" tIns="0" lIns="0" bIns="0" rIns="0">
            <a:spAutoFit/>
          </a:bodyPr>
          <a:lstStyle/>
          <a:p>
            <a:pPr algn="ctr" marL="0" indent="0" lvl="0">
              <a:lnSpc>
                <a:spcPts val="4990"/>
              </a:lnSpc>
            </a:pPr>
            <a:r>
              <a:rPr lang="en-US" sz="3564">
                <a:solidFill>
                  <a:srgbClr val="A74B4B"/>
                </a:solidFill>
                <a:latin typeface="Poppins"/>
                <a:ea typeface="Poppins"/>
                <a:cs typeface="Poppins"/>
                <a:sym typeface="Poppins"/>
              </a:rPr>
              <a:t>Perkembangan teknologi adalah proses perubahan, kemajuan, dan inovasi dalam penggunaan ilmu pengetahuan untuk menciptakan alat, sistem, atau metode yang dapat mempermudah pekerjaan manusia. Perkembangan ini terjadi secara bertahap dari teknologi sederhana hingga teknologi modern yang semakin canggih.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58138"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547077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851481" y="1178180"/>
            <a:ext cx="12402966" cy="1758216"/>
          </a:xfrm>
          <a:prstGeom prst="rect">
            <a:avLst/>
          </a:prstGeom>
        </p:spPr>
        <p:txBody>
          <a:bodyPr anchor="t" rtlCol="false" tIns="0" lIns="0" bIns="0" rIns="0">
            <a:spAutoFit/>
          </a:bodyPr>
          <a:lstStyle/>
          <a:p>
            <a:pPr algn="ctr">
              <a:lnSpc>
                <a:spcPts val="6470"/>
              </a:lnSpc>
            </a:pPr>
            <a:r>
              <a:rPr lang="en-US" sz="5726">
                <a:solidFill>
                  <a:srgbClr val="A74B4B"/>
                </a:solidFill>
                <a:latin typeface="Mango AC"/>
                <a:ea typeface="Mango AC"/>
                <a:cs typeface="Mango AC"/>
                <a:sym typeface="Mango AC"/>
              </a:rPr>
              <a:t>LATAR BELAKANG  PERKEMBANGAN TEKNOLOGI</a:t>
            </a:r>
          </a:p>
        </p:txBody>
      </p:sp>
      <p:sp>
        <p:nvSpPr>
          <p:cNvPr name="Freeform 7" id="7"/>
          <p:cNvSpPr/>
          <p:nvPr/>
        </p:nvSpPr>
        <p:spPr>
          <a:xfrm flipH="true" flipV="true" rot="0">
            <a:off x="13719388" y="-527893"/>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48214" y="355463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198216">
            <a:off x="-1357855" y="122668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270613">
            <a:off x="15905487" y="7159333"/>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851481" y="3694054"/>
            <a:ext cx="13297625" cy="3917381"/>
          </a:xfrm>
          <a:prstGeom prst="rect">
            <a:avLst/>
          </a:prstGeom>
        </p:spPr>
        <p:txBody>
          <a:bodyPr anchor="t" rtlCol="false" tIns="0" lIns="0" bIns="0" rIns="0">
            <a:spAutoFit/>
          </a:bodyPr>
          <a:lstStyle/>
          <a:p>
            <a:pPr algn="ctr" marL="0" indent="0" lvl="0">
              <a:lnSpc>
                <a:spcPts val="4400"/>
              </a:lnSpc>
            </a:pPr>
            <a:r>
              <a:rPr lang="en-US" sz="3143">
                <a:solidFill>
                  <a:srgbClr val="592718"/>
                </a:solidFill>
                <a:latin typeface="Poppins"/>
                <a:ea typeface="Poppins"/>
                <a:cs typeface="Poppins"/>
                <a:sym typeface="Poppins"/>
              </a:rPr>
              <a:t>Perkembangan teknologi terjadi karena kebutuhan manusia yang terus meningkat untuk menjalankan pekerjaan dengan lebih mudah, cepat, dan efisien. Seiring berkembangnya ilmu pengetahuan, manusia menciptakan alat dan sistem baru untuk memecahkan masalah, memperbaiki cara hidup, serta meningkatkan produktivitas di berbagai bidang seperti komunikasi, transportasi, pendidikan, kesehatan, dan industri.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019942" y="7463268"/>
            <a:ext cx="6356137" cy="3117564"/>
          </a:xfrm>
          <a:custGeom>
            <a:avLst/>
            <a:gdLst/>
            <a:ahLst/>
            <a:cxnLst/>
            <a:rect r="r" b="b" t="t" l="l"/>
            <a:pathLst>
              <a:path h="3117564" w="6356137">
                <a:moveTo>
                  <a:pt x="0" y="0"/>
                </a:moveTo>
                <a:lnTo>
                  <a:pt x="6356137" y="0"/>
                </a:lnTo>
                <a:lnTo>
                  <a:pt x="6356137" y="3117564"/>
                </a:lnTo>
                <a:lnTo>
                  <a:pt x="0" y="3117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390195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0">
            <a:off x="-2149368" y="-530082"/>
            <a:ext cx="6356137" cy="3117564"/>
          </a:xfrm>
          <a:custGeom>
            <a:avLst/>
            <a:gdLst/>
            <a:ahLst/>
            <a:cxnLst/>
            <a:rect r="r" b="b" t="t" l="l"/>
            <a:pathLst>
              <a:path h="3117564" w="6356137">
                <a:moveTo>
                  <a:pt x="0" y="3117564"/>
                </a:moveTo>
                <a:lnTo>
                  <a:pt x="6356136" y="3117564"/>
                </a:lnTo>
                <a:lnTo>
                  <a:pt x="6356136" y="0"/>
                </a:lnTo>
                <a:lnTo>
                  <a:pt x="0" y="0"/>
                </a:lnTo>
                <a:lnTo>
                  <a:pt x="0"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6826739" y="4894840"/>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577725">
            <a:off x="15738904" y="113175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159342">
            <a:off x="-1391678" y="7419538"/>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200737">
            <a:off x="2259646" y="2723933"/>
            <a:ext cx="6699550" cy="6529016"/>
          </a:xfrm>
          <a:custGeom>
            <a:avLst/>
            <a:gdLst/>
            <a:ahLst/>
            <a:cxnLst/>
            <a:rect r="r" b="b" t="t" l="l"/>
            <a:pathLst>
              <a:path h="6529016" w="6699550">
                <a:moveTo>
                  <a:pt x="0" y="0"/>
                </a:moveTo>
                <a:lnTo>
                  <a:pt x="6699550" y="0"/>
                </a:lnTo>
                <a:lnTo>
                  <a:pt x="6699550" y="6529016"/>
                </a:lnTo>
                <a:lnTo>
                  <a:pt x="0" y="65290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2772845" y="3697881"/>
            <a:ext cx="5894473" cy="4533496"/>
          </a:xfrm>
          <a:prstGeom prst="rect">
            <a:avLst/>
          </a:prstGeom>
        </p:spPr>
        <p:txBody>
          <a:bodyPr anchor="t" rtlCol="false" tIns="0" lIns="0" bIns="0" rIns="0">
            <a:spAutoFit/>
          </a:bodyPr>
          <a:lstStyle/>
          <a:p>
            <a:pPr algn="just">
              <a:lnSpc>
                <a:spcPts val="2553"/>
              </a:lnSpc>
            </a:pPr>
            <a:r>
              <a:rPr lang="en-US" sz="1823">
                <a:solidFill>
                  <a:srgbClr val="FFFFFF"/>
                </a:solidFill>
                <a:latin typeface="Poppins"/>
                <a:ea typeface="Poppins"/>
                <a:cs typeface="Poppins"/>
                <a:sym typeface="Poppins"/>
              </a:rPr>
              <a:t>Dampak Positif:</a:t>
            </a:r>
          </a:p>
          <a:p>
            <a:pPr algn="just">
              <a:lnSpc>
                <a:spcPts val="2553"/>
              </a:lnSpc>
            </a:pPr>
          </a:p>
          <a:p>
            <a:pPr algn="just">
              <a:lnSpc>
                <a:spcPts val="2553"/>
              </a:lnSpc>
            </a:pPr>
            <a:r>
              <a:rPr lang="en-US" sz="1823">
                <a:solidFill>
                  <a:srgbClr val="FFFFFF"/>
                </a:solidFill>
                <a:latin typeface="Poppins"/>
                <a:ea typeface="Poppins"/>
                <a:cs typeface="Poppins"/>
                <a:sym typeface="Poppins"/>
              </a:rPr>
              <a:t>• </a:t>
            </a:r>
            <a:r>
              <a:rPr lang="en-US" sz="1823">
                <a:solidFill>
                  <a:srgbClr val="FFFFFF"/>
                </a:solidFill>
                <a:latin typeface="Poppins"/>
                <a:ea typeface="Poppins"/>
                <a:cs typeface="Poppins"/>
                <a:sym typeface="Poppins"/>
              </a:rPr>
              <a:t>Komunikasi lebih cepat dan mudah.</a:t>
            </a:r>
          </a:p>
          <a:p>
            <a:pPr algn="just">
              <a:lnSpc>
                <a:spcPts val="2553"/>
              </a:lnSpc>
            </a:pPr>
          </a:p>
          <a:p>
            <a:pPr algn="just">
              <a:lnSpc>
                <a:spcPts val="2553"/>
              </a:lnSpc>
            </a:pPr>
            <a:r>
              <a:rPr lang="en-US" sz="1823">
                <a:solidFill>
                  <a:srgbClr val="FFFFFF"/>
                </a:solidFill>
                <a:latin typeface="Poppins"/>
                <a:ea typeface="Poppins"/>
                <a:cs typeface="Poppins"/>
                <a:sym typeface="Poppins"/>
              </a:rPr>
              <a:t>• </a:t>
            </a:r>
            <a:r>
              <a:rPr lang="en-US" sz="1823">
                <a:solidFill>
                  <a:srgbClr val="FFFFFF"/>
                </a:solidFill>
                <a:latin typeface="Poppins"/>
                <a:ea typeface="Poppins"/>
                <a:cs typeface="Poppins"/>
                <a:sym typeface="Poppins"/>
              </a:rPr>
              <a:t>Pendidikan lebih aksesibel (internet, e-learning).</a:t>
            </a:r>
          </a:p>
          <a:p>
            <a:pPr algn="just">
              <a:lnSpc>
                <a:spcPts val="2553"/>
              </a:lnSpc>
            </a:pPr>
          </a:p>
          <a:p>
            <a:pPr algn="just">
              <a:lnSpc>
                <a:spcPts val="2553"/>
              </a:lnSpc>
            </a:pPr>
            <a:r>
              <a:rPr lang="en-US" sz="1823">
                <a:solidFill>
                  <a:srgbClr val="FFFFFF"/>
                </a:solidFill>
                <a:latin typeface="Poppins"/>
                <a:ea typeface="Poppins"/>
                <a:cs typeface="Poppins"/>
                <a:sym typeface="Poppins"/>
              </a:rPr>
              <a:t>• </a:t>
            </a:r>
            <a:r>
              <a:rPr lang="en-US" sz="1823">
                <a:solidFill>
                  <a:srgbClr val="FFFFFF"/>
                </a:solidFill>
                <a:latin typeface="Poppins"/>
                <a:ea typeface="Poppins"/>
                <a:cs typeface="Poppins"/>
                <a:sym typeface="Poppins"/>
              </a:rPr>
              <a:t>Pekerjaan lebih efisien dengan otomatisasi.</a:t>
            </a:r>
          </a:p>
          <a:p>
            <a:pPr algn="just">
              <a:lnSpc>
                <a:spcPts val="2553"/>
              </a:lnSpc>
            </a:pPr>
          </a:p>
          <a:p>
            <a:pPr algn="just">
              <a:lnSpc>
                <a:spcPts val="2553"/>
              </a:lnSpc>
            </a:pPr>
            <a:r>
              <a:rPr lang="en-US" sz="1823">
                <a:solidFill>
                  <a:srgbClr val="FFFFFF"/>
                </a:solidFill>
                <a:latin typeface="Poppins"/>
                <a:ea typeface="Poppins"/>
                <a:cs typeface="Poppins"/>
                <a:sym typeface="Poppins"/>
              </a:rPr>
              <a:t>• </a:t>
            </a:r>
            <a:r>
              <a:rPr lang="en-US" sz="1823">
                <a:solidFill>
                  <a:srgbClr val="FFFFFF"/>
                </a:solidFill>
                <a:latin typeface="Poppins"/>
                <a:ea typeface="Poppins"/>
                <a:cs typeface="Poppins"/>
                <a:sym typeface="Poppins"/>
              </a:rPr>
              <a:t>Pelayanan kesehatan lebih canggih.</a:t>
            </a:r>
          </a:p>
          <a:p>
            <a:pPr algn="just">
              <a:lnSpc>
                <a:spcPts val="2553"/>
              </a:lnSpc>
            </a:pPr>
          </a:p>
          <a:p>
            <a:pPr algn="just">
              <a:lnSpc>
                <a:spcPts val="2553"/>
              </a:lnSpc>
            </a:pPr>
            <a:r>
              <a:rPr lang="en-US" sz="1823">
                <a:solidFill>
                  <a:srgbClr val="FFFFFF"/>
                </a:solidFill>
                <a:latin typeface="Poppins"/>
                <a:ea typeface="Poppins"/>
                <a:cs typeface="Poppins"/>
                <a:sym typeface="Poppins"/>
              </a:rPr>
              <a:t>• </a:t>
            </a:r>
            <a:r>
              <a:rPr lang="en-US" sz="1823">
                <a:solidFill>
                  <a:srgbClr val="FFFFFF"/>
                </a:solidFill>
                <a:latin typeface="Poppins"/>
                <a:ea typeface="Poppins"/>
                <a:cs typeface="Poppins"/>
                <a:sym typeface="Poppins"/>
              </a:rPr>
              <a:t>Transportasi lebih modern dan aman.</a:t>
            </a:r>
          </a:p>
          <a:p>
            <a:pPr algn="just">
              <a:lnSpc>
                <a:spcPts val="2553"/>
              </a:lnSpc>
            </a:pPr>
          </a:p>
          <a:p>
            <a:pPr algn="just">
              <a:lnSpc>
                <a:spcPts val="2553"/>
              </a:lnSpc>
            </a:pPr>
            <a:r>
              <a:rPr lang="en-US" sz="1823">
                <a:solidFill>
                  <a:srgbClr val="FFFFFF"/>
                </a:solidFill>
                <a:latin typeface="Poppins"/>
                <a:ea typeface="Poppins"/>
                <a:cs typeface="Poppins"/>
                <a:sym typeface="Poppins"/>
              </a:rPr>
              <a:t>• </a:t>
            </a:r>
            <a:r>
              <a:rPr lang="en-US" sz="1823">
                <a:solidFill>
                  <a:srgbClr val="FFFFFF"/>
                </a:solidFill>
                <a:latin typeface="Poppins"/>
                <a:ea typeface="Poppins"/>
                <a:cs typeface="Poppins"/>
                <a:sym typeface="Poppins"/>
              </a:rPr>
              <a:t>Ekonomi digital berkembang (e-commerc</a:t>
            </a:r>
          </a:p>
          <a:p>
            <a:pPr algn="just" marL="0" indent="0" lvl="0">
              <a:lnSpc>
                <a:spcPts val="2553"/>
              </a:lnSpc>
            </a:pPr>
            <a:r>
              <a:rPr lang="en-US" sz="1823">
                <a:solidFill>
                  <a:srgbClr val="FFFFFF"/>
                </a:solidFill>
                <a:latin typeface="Poppins"/>
                <a:ea typeface="Poppins"/>
                <a:cs typeface="Poppins"/>
                <a:sym typeface="Poppins"/>
              </a:rPr>
              <a:t>e, fintech).</a:t>
            </a:r>
          </a:p>
        </p:txBody>
      </p:sp>
      <p:sp>
        <p:nvSpPr>
          <p:cNvPr name="TextBox 12" id="12"/>
          <p:cNvSpPr txBox="true"/>
          <p:nvPr/>
        </p:nvSpPr>
        <p:spPr>
          <a:xfrm rot="0">
            <a:off x="2516102" y="829266"/>
            <a:ext cx="13621504" cy="1758216"/>
          </a:xfrm>
          <a:prstGeom prst="rect">
            <a:avLst/>
          </a:prstGeom>
        </p:spPr>
        <p:txBody>
          <a:bodyPr anchor="t" rtlCol="false" tIns="0" lIns="0" bIns="0" rIns="0">
            <a:spAutoFit/>
          </a:bodyPr>
          <a:lstStyle/>
          <a:p>
            <a:pPr algn="ctr">
              <a:lnSpc>
                <a:spcPts val="6470"/>
              </a:lnSpc>
            </a:pPr>
            <a:r>
              <a:rPr lang="en-US" sz="5726">
                <a:solidFill>
                  <a:srgbClr val="A74B4B"/>
                </a:solidFill>
                <a:latin typeface="Mango AC"/>
                <a:ea typeface="Mango AC"/>
                <a:cs typeface="Mango AC"/>
                <a:sym typeface="Mango AC"/>
              </a:rPr>
              <a:t>DAMPAK PERKEMBANGAN TEKNOLOGI </a:t>
            </a:r>
          </a:p>
        </p:txBody>
      </p:sp>
      <p:sp>
        <p:nvSpPr>
          <p:cNvPr name="Freeform 13" id="13"/>
          <p:cNvSpPr/>
          <p:nvPr/>
        </p:nvSpPr>
        <p:spPr>
          <a:xfrm flipH="false" flipV="false" rot="200737">
            <a:off x="9507376" y="2773007"/>
            <a:ext cx="6544311" cy="6377728"/>
          </a:xfrm>
          <a:custGeom>
            <a:avLst/>
            <a:gdLst/>
            <a:ahLst/>
            <a:cxnLst/>
            <a:rect r="r" b="b" t="t" l="l"/>
            <a:pathLst>
              <a:path h="6377728" w="6544311">
                <a:moveTo>
                  <a:pt x="0" y="0"/>
                </a:moveTo>
                <a:lnTo>
                  <a:pt x="6544311" y="0"/>
                </a:lnTo>
                <a:lnTo>
                  <a:pt x="6544311" y="6377728"/>
                </a:lnTo>
                <a:lnTo>
                  <a:pt x="0" y="63777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10348313" y="3697881"/>
            <a:ext cx="6159105" cy="4270233"/>
          </a:xfrm>
          <a:prstGeom prst="rect">
            <a:avLst/>
          </a:prstGeom>
        </p:spPr>
        <p:txBody>
          <a:bodyPr anchor="t" rtlCol="false" tIns="0" lIns="0" bIns="0" rIns="0">
            <a:spAutoFit/>
          </a:bodyPr>
          <a:lstStyle/>
          <a:p>
            <a:pPr algn="just">
              <a:lnSpc>
                <a:spcPts val="2590"/>
              </a:lnSpc>
            </a:pPr>
            <a:r>
              <a:rPr lang="en-US" sz="1850">
                <a:solidFill>
                  <a:srgbClr val="FFFFFF"/>
                </a:solidFill>
                <a:latin typeface="Poppins"/>
                <a:ea typeface="Poppins"/>
                <a:cs typeface="Poppins"/>
                <a:sym typeface="Poppins"/>
              </a:rPr>
              <a:t>Dampak negatif:</a:t>
            </a:r>
          </a:p>
          <a:p>
            <a:pPr algn="just">
              <a:lnSpc>
                <a:spcPts val="2590"/>
              </a:lnSpc>
            </a:pPr>
          </a:p>
          <a:p>
            <a:pPr algn="just">
              <a:lnSpc>
                <a:spcPts val="2590"/>
              </a:lnSpc>
            </a:pPr>
            <a:r>
              <a:rPr lang="en-US" sz="1850">
                <a:solidFill>
                  <a:srgbClr val="FFFFFF"/>
                </a:solidFill>
                <a:latin typeface="Poppins"/>
                <a:ea typeface="Poppins"/>
                <a:cs typeface="Poppins"/>
                <a:sym typeface="Poppins"/>
              </a:rPr>
              <a:t>• Ketergantungan pada gadget dan internet.</a:t>
            </a:r>
          </a:p>
          <a:p>
            <a:pPr algn="just">
              <a:lnSpc>
                <a:spcPts val="2590"/>
              </a:lnSpc>
            </a:pPr>
          </a:p>
          <a:p>
            <a:pPr algn="just">
              <a:lnSpc>
                <a:spcPts val="2590"/>
              </a:lnSpc>
            </a:pPr>
            <a:r>
              <a:rPr lang="en-US" sz="1850">
                <a:solidFill>
                  <a:srgbClr val="FFFFFF"/>
                </a:solidFill>
                <a:latin typeface="Poppins"/>
                <a:ea typeface="Poppins"/>
                <a:cs typeface="Poppins"/>
                <a:sym typeface="Poppins"/>
              </a:rPr>
              <a:t>• </a:t>
            </a:r>
            <a:r>
              <a:rPr lang="en-US" sz="1850">
                <a:solidFill>
                  <a:srgbClr val="FFFFFF"/>
                </a:solidFill>
                <a:latin typeface="Poppins"/>
                <a:ea typeface="Poppins"/>
                <a:cs typeface="Poppins"/>
                <a:sym typeface="Poppins"/>
              </a:rPr>
              <a:t>Berkurangnya interaksi sosial langsung.</a:t>
            </a:r>
          </a:p>
          <a:p>
            <a:pPr algn="just">
              <a:lnSpc>
                <a:spcPts val="2590"/>
              </a:lnSpc>
            </a:pPr>
          </a:p>
          <a:p>
            <a:pPr algn="just">
              <a:lnSpc>
                <a:spcPts val="2590"/>
              </a:lnSpc>
            </a:pPr>
            <a:r>
              <a:rPr lang="en-US" sz="1850">
                <a:solidFill>
                  <a:srgbClr val="FFFFFF"/>
                </a:solidFill>
                <a:latin typeface="Poppins"/>
                <a:ea typeface="Poppins"/>
                <a:cs typeface="Poppins"/>
                <a:sym typeface="Poppins"/>
              </a:rPr>
              <a:t>• </a:t>
            </a:r>
            <a:r>
              <a:rPr lang="en-US" sz="1850">
                <a:solidFill>
                  <a:srgbClr val="FFFFFF"/>
                </a:solidFill>
                <a:latin typeface="Poppins"/>
                <a:ea typeface="Poppins"/>
                <a:cs typeface="Poppins"/>
                <a:sym typeface="Poppins"/>
              </a:rPr>
              <a:t>Pengangguran karena otomatisasi.</a:t>
            </a:r>
          </a:p>
          <a:p>
            <a:pPr algn="just">
              <a:lnSpc>
                <a:spcPts val="2590"/>
              </a:lnSpc>
            </a:pPr>
          </a:p>
          <a:p>
            <a:pPr algn="just">
              <a:lnSpc>
                <a:spcPts val="2590"/>
              </a:lnSpc>
            </a:pPr>
            <a:r>
              <a:rPr lang="en-US" sz="1850">
                <a:solidFill>
                  <a:srgbClr val="FFFFFF"/>
                </a:solidFill>
                <a:latin typeface="Poppins"/>
                <a:ea typeface="Poppins"/>
                <a:cs typeface="Poppins"/>
                <a:sym typeface="Poppins"/>
              </a:rPr>
              <a:t>• </a:t>
            </a:r>
            <a:r>
              <a:rPr lang="en-US" sz="1850">
                <a:solidFill>
                  <a:srgbClr val="FFFFFF"/>
                </a:solidFill>
                <a:latin typeface="Poppins"/>
                <a:ea typeface="Poppins"/>
                <a:cs typeface="Poppins"/>
                <a:sym typeface="Poppins"/>
              </a:rPr>
              <a:t>Penyebaran hoaks dan cyberbullying.</a:t>
            </a:r>
          </a:p>
          <a:p>
            <a:pPr algn="just">
              <a:lnSpc>
                <a:spcPts val="2590"/>
              </a:lnSpc>
            </a:pPr>
          </a:p>
          <a:p>
            <a:pPr algn="just">
              <a:lnSpc>
                <a:spcPts val="2590"/>
              </a:lnSpc>
            </a:pPr>
            <a:r>
              <a:rPr lang="en-US" sz="1850">
                <a:solidFill>
                  <a:srgbClr val="FFFFFF"/>
                </a:solidFill>
                <a:latin typeface="Poppins"/>
                <a:ea typeface="Poppins"/>
                <a:cs typeface="Poppins"/>
                <a:sym typeface="Poppins"/>
              </a:rPr>
              <a:t>• </a:t>
            </a:r>
            <a:r>
              <a:rPr lang="en-US" sz="1850">
                <a:solidFill>
                  <a:srgbClr val="FFFFFF"/>
                </a:solidFill>
                <a:latin typeface="Poppins"/>
                <a:ea typeface="Poppins"/>
                <a:cs typeface="Poppins"/>
                <a:sym typeface="Poppins"/>
              </a:rPr>
              <a:t>Pencurian data dan masalah privasi.</a:t>
            </a:r>
          </a:p>
          <a:p>
            <a:pPr algn="just">
              <a:lnSpc>
                <a:spcPts val="2590"/>
              </a:lnSpc>
            </a:pPr>
          </a:p>
          <a:p>
            <a:pPr algn="just" marL="0" indent="0" lvl="0">
              <a:lnSpc>
                <a:spcPts val="2590"/>
              </a:lnSpc>
            </a:pPr>
            <a:r>
              <a:rPr lang="en-US" sz="1850">
                <a:solidFill>
                  <a:srgbClr val="FFFFFF"/>
                </a:solidFill>
                <a:latin typeface="Poppins"/>
                <a:ea typeface="Poppins"/>
                <a:cs typeface="Poppins"/>
                <a:sym typeface="Poppins"/>
              </a:rPr>
              <a:t>• </a:t>
            </a:r>
            <a:r>
              <a:rPr lang="en-US" sz="1850">
                <a:solidFill>
                  <a:srgbClr val="FFFFFF"/>
                </a:solidFill>
                <a:latin typeface="Poppins"/>
                <a:ea typeface="Poppins"/>
                <a:cs typeface="Poppins"/>
                <a:sym typeface="Poppins"/>
              </a:rPr>
              <a:t>Meningkatnya sampah elektronik dan polusi.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58138"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316211" y="5470770"/>
            <a:ext cx="1126191" cy="1355372"/>
          </a:xfrm>
          <a:custGeom>
            <a:avLst/>
            <a:gdLst/>
            <a:ahLst/>
            <a:cxnLst/>
            <a:rect r="r" b="b" t="t" l="l"/>
            <a:pathLst>
              <a:path h="1355372" w="1126191">
                <a:moveTo>
                  <a:pt x="0" y="0"/>
                </a:moveTo>
                <a:lnTo>
                  <a:pt x="1126191" y="0"/>
                </a:lnTo>
                <a:lnTo>
                  <a:pt x="1126191" y="1355371"/>
                </a:lnTo>
                <a:lnTo>
                  <a:pt x="0" y="1355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319930" y="1012430"/>
            <a:ext cx="13938709" cy="1758216"/>
          </a:xfrm>
          <a:prstGeom prst="rect">
            <a:avLst/>
          </a:prstGeom>
        </p:spPr>
        <p:txBody>
          <a:bodyPr anchor="t" rtlCol="false" tIns="0" lIns="0" bIns="0" rIns="0">
            <a:spAutoFit/>
          </a:bodyPr>
          <a:lstStyle/>
          <a:p>
            <a:pPr algn="ctr">
              <a:lnSpc>
                <a:spcPts val="6470"/>
              </a:lnSpc>
            </a:pPr>
            <a:r>
              <a:rPr lang="en-US" sz="5726">
                <a:solidFill>
                  <a:srgbClr val="A74B4B"/>
                </a:solidFill>
                <a:latin typeface="Mango AC"/>
                <a:ea typeface="Mango AC"/>
                <a:cs typeface="Mango AC"/>
                <a:sym typeface="Mango AC"/>
              </a:rPr>
              <a:t>CIRI-CIRI PERKEMBANGAN TEKNOLOGI </a:t>
            </a:r>
          </a:p>
        </p:txBody>
      </p:sp>
      <p:sp>
        <p:nvSpPr>
          <p:cNvPr name="Freeform 7" id="7"/>
          <p:cNvSpPr/>
          <p:nvPr/>
        </p:nvSpPr>
        <p:spPr>
          <a:xfrm flipH="true" flipV="true" rot="0">
            <a:off x="13719388" y="-527893"/>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495609">
            <a:off x="16848214" y="3554633"/>
            <a:ext cx="1141940" cy="1374326"/>
          </a:xfrm>
          <a:custGeom>
            <a:avLst/>
            <a:gdLst/>
            <a:ahLst/>
            <a:cxnLst/>
            <a:rect r="r" b="b" t="t" l="l"/>
            <a:pathLst>
              <a:path h="1374326" w="1141940">
                <a:moveTo>
                  <a:pt x="0" y="0"/>
                </a:moveTo>
                <a:lnTo>
                  <a:pt x="1141940" y="0"/>
                </a:lnTo>
                <a:lnTo>
                  <a:pt x="1141940" y="1374326"/>
                </a:lnTo>
                <a:lnTo>
                  <a:pt x="0" y="13743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198216">
            <a:off x="-1357855" y="1226687"/>
            <a:ext cx="3926994" cy="1727877"/>
          </a:xfrm>
          <a:custGeom>
            <a:avLst/>
            <a:gdLst/>
            <a:ahLst/>
            <a:cxnLst/>
            <a:rect r="r" b="b" t="t" l="l"/>
            <a:pathLst>
              <a:path h="1727877" w="3926994">
                <a:moveTo>
                  <a:pt x="0" y="0"/>
                </a:moveTo>
                <a:lnTo>
                  <a:pt x="3926994" y="0"/>
                </a:lnTo>
                <a:lnTo>
                  <a:pt x="3926994" y="1727878"/>
                </a:lnTo>
                <a:lnTo>
                  <a:pt x="0" y="1727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7270613">
            <a:off x="15905487" y="7159333"/>
            <a:ext cx="3926994" cy="1727877"/>
          </a:xfrm>
          <a:custGeom>
            <a:avLst/>
            <a:gdLst/>
            <a:ahLst/>
            <a:cxnLst/>
            <a:rect r="r" b="b" t="t" l="l"/>
            <a:pathLst>
              <a:path h="1727877" w="3926994">
                <a:moveTo>
                  <a:pt x="0" y="0"/>
                </a:moveTo>
                <a:lnTo>
                  <a:pt x="3926994" y="0"/>
                </a:lnTo>
                <a:lnTo>
                  <a:pt x="3926994" y="1727877"/>
                </a:lnTo>
                <a:lnTo>
                  <a:pt x="0" y="17278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097579" y="3134694"/>
            <a:ext cx="14431313" cy="5188782"/>
          </a:xfrm>
          <a:prstGeom prst="rect">
            <a:avLst/>
          </a:prstGeom>
        </p:spPr>
        <p:txBody>
          <a:bodyPr anchor="t" rtlCol="false" tIns="0" lIns="0" bIns="0" rIns="0">
            <a:spAutoFit/>
          </a:bodyPr>
          <a:lstStyle/>
          <a:p>
            <a:pPr algn="ctr">
              <a:lnSpc>
                <a:spcPts val="4545"/>
              </a:lnSpc>
            </a:pPr>
            <a:r>
              <a:rPr lang="en-US" sz="4022">
                <a:solidFill>
                  <a:srgbClr val="A74B4B"/>
                </a:solidFill>
                <a:latin typeface="Poppins"/>
                <a:ea typeface="Poppins"/>
                <a:cs typeface="Poppins"/>
                <a:sym typeface="Poppins"/>
              </a:rPr>
              <a:t>1. Cepat dan dinamis – Teknologi terus berkembang dengan cepat, dari yang sederhana ke yang semakin kompleks.</a:t>
            </a:r>
          </a:p>
          <a:p>
            <a:pPr algn="ctr">
              <a:lnSpc>
                <a:spcPts val="4545"/>
              </a:lnSpc>
            </a:pPr>
            <a:r>
              <a:rPr lang="en-US" sz="4022">
                <a:solidFill>
                  <a:srgbClr val="A74B4B"/>
                </a:solidFill>
                <a:latin typeface="Poppins"/>
                <a:ea typeface="Poppins"/>
                <a:cs typeface="Poppins"/>
                <a:sym typeface="Poppins"/>
              </a:rPr>
              <a:t>2. Inovatif – Selalu menghadirkan solusi baru untuk kebutuhan manusia.</a:t>
            </a:r>
          </a:p>
          <a:p>
            <a:pPr algn="ctr">
              <a:lnSpc>
                <a:spcPts val="4545"/>
              </a:lnSpc>
            </a:pPr>
            <a:r>
              <a:rPr lang="en-US" sz="4022">
                <a:solidFill>
                  <a:srgbClr val="A74B4B"/>
                </a:solidFill>
                <a:latin typeface="Poppins"/>
                <a:ea typeface="Poppins"/>
                <a:cs typeface="Poppins"/>
                <a:sym typeface="Poppins"/>
              </a:rPr>
              <a:t>3. Efisiensi tinggi – Membantu pekerjaan menjadi lebih cepat, mudah, dan hemat sumber daya.</a:t>
            </a:r>
          </a:p>
          <a:p>
            <a:pPr algn="ctr">
              <a:lnSpc>
                <a:spcPts val="4545"/>
              </a:lnSpc>
              <a:spcBef>
                <a:spcPct val="0"/>
              </a:spcBef>
            </a:pPr>
            <a:r>
              <a:rPr lang="en-US" sz="4022">
                <a:solidFill>
                  <a:srgbClr val="A74B4B"/>
                </a:solidFill>
                <a:latin typeface="Poppins"/>
                <a:ea typeface="Poppins"/>
                <a:cs typeface="Poppins"/>
                <a:sym typeface="Poppins"/>
              </a:rPr>
              <a:t>4. Globalisasi – Teknologi memudahkan komunikasi dan interaksi di seluruh dunia.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FF0"/>
        </a:solidFill>
      </p:bgPr>
    </p:bg>
    <p:spTree>
      <p:nvGrpSpPr>
        <p:cNvPr id="1" name=""/>
        <p:cNvGrpSpPr/>
        <p:nvPr/>
      </p:nvGrpSpPr>
      <p:grpSpPr>
        <a:xfrm>
          <a:off x="0" y="0"/>
          <a:ext cx="0" cy="0"/>
          <a:chOff x="0" y="0"/>
          <a:chExt cx="0" cy="0"/>
        </a:xfrm>
      </p:grpSpPr>
      <p:sp>
        <p:nvSpPr>
          <p:cNvPr name="Freeform 2" id="2"/>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3525"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58138" y="7611434"/>
            <a:ext cx="6356137" cy="3117564"/>
          </a:xfrm>
          <a:custGeom>
            <a:avLst/>
            <a:gdLst/>
            <a:ahLst/>
            <a:cxnLst/>
            <a:rect r="r" b="b" t="t" l="l"/>
            <a:pathLst>
              <a:path h="3117564" w="6356137">
                <a:moveTo>
                  <a:pt x="0" y="0"/>
                </a:moveTo>
                <a:lnTo>
                  <a:pt x="6356137" y="0"/>
                </a:lnTo>
                <a:lnTo>
                  <a:pt x="6356137" y="3117565"/>
                </a:lnTo>
                <a:lnTo>
                  <a:pt x="0" y="31175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564110">
            <a:off x="1737515" y="4875671"/>
            <a:ext cx="1487235" cy="1789888"/>
          </a:xfrm>
          <a:custGeom>
            <a:avLst/>
            <a:gdLst/>
            <a:ahLst/>
            <a:cxnLst/>
            <a:rect r="r" b="b" t="t" l="l"/>
            <a:pathLst>
              <a:path h="1789888" w="1487235">
                <a:moveTo>
                  <a:pt x="0" y="0"/>
                </a:moveTo>
                <a:lnTo>
                  <a:pt x="1487235" y="0"/>
                </a:lnTo>
                <a:lnTo>
                  <a:pt x="1487235" y="1789888"/>
                </a:lnTo>
                <a:lnTo>
                  <a:pt x="0" y="17898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true" rot="0">
            <a:off x="13719388" y="-527893"/>
            <a:ext cx="6356137" cy="3117564"/>
          </a:xfrm>
          <a:custGeom>
            <a:avLst/>
            <a:gdLst/>
            <a:ahLst/>
            <a:cxnLst/>
            <a:rect r="r" b="b" t="t" l="l"/>
            <a:pathLst>
              <a:path h="3117564" w="6356137">
                <a:moveTo>
                  <a:pt x="6356137" y="3117564"/>
                </a:moveTo>
                <a:lnTo>
                  <a:pt x="0" y="3117564"/>
                </a:lnTo>
                <a:lnTo>
                  <a:pt x="0" y="0"/>
                </a:lnTo>
                <a:lnTo>
                  <a:pt x="6356137" y="0"/>
                </a:lnTo>
                <a:lnTo>
                  <a:pt x="6356137" y="311756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495609">
            <a:off x="15583725" y="3861524"/>
            <a:ext cx="1569130" cy="1888450"/>
          </a:xfrm>
          <a:custGeom>
            <a:avLst/>
            <a:gdLst/>
            <a:ahLst/>
            <a:cxnLst/>
            <a:rect r="r" b="b" t="t" l="l"/>
            <a:pathLst>
              <a:path h="1888450" w="1569130">
                <a:moveTo>
                  <a:pt x="0" y="0"/>
                </a:moveTo>
                <a:lnTo>
                  <a:pt x="1569130" y="0"/>
                </a:lnTo>
                <a:lnTo>
                  <a:pt x="1569130" y="1888450"/>
                </a:lnTo>
                <a:lnTo>
                  <a:pt x="0" y="18884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2297704">
            <a:off x="1622000" y="-15651"/>
            <a:ext cx="4757000" cy="2093080"/>
          </a:xfrm>
          <a:custGeom>
            <a:avLst/>
            <a:gdLst/>
            <a:ahLst/>
            <a:cxnLst/>
            <a:rect r="r" b="b" t="t" l="l"/>
            <a:pathLst>
              <a:path h="2093080" w="4757000">
                <a:moveTo>
                  <a:pt x="0" y="0"/>
                </a:moveTo>
                <a:lnTo>
                  <a:pt x="4757000" y="0"/>
                </a:lnTo>
                <a:lnTo>
                  <a:pt x="4757000" y="2093080"/>
                </a:lnTo>
                <a:lnTo>
                  <a:pt x="0" y="20930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9149630">
            <a:off x="10532985" y="8416729"/>
            <a:ext cx="4700052" cy="2068023"/>
          </a:xfrm>
          <a:custGeom>
            <a:avLst/>
            <a:gdLst/>
            <a:ahLst/>
            <a:cxnLst/>
            <a:rect r="r" b="b" t="t" l="l"/>
            <a:pathLst>
              <a:path h="2068023" w="4700052">
                <a:moveTo>
                  <a:pt x="0" y="0"/>
                </a:moveTo>
                <a:lnTo>
                  <a:pt x="4700052" y="0"/>
                </a:lnTo>
                <a:lnTo>
                  <a:pt x="4700052" y="2068023"/>
                </a:lnTo>
                <a:lnTo>
                  <a:pt x="0" y="20680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2471448" y="2961500"/>
            <a:ext cx="13344609" cy="4211600"/>
          </a:xfrm>
          <a:prstGeom prst="rect">
            <a:avLst/>
          </a:prstGeom>
        </p:spPr>
        <p:txBody>
          <a:bodyPr anchor="t" rtlCol="false" tIns="0" lIns="0" bIns="0" rIns="0">
            <a:spAutoFit/>
          </a:bodyPr>
          <a:lstStyle/>
          <a:p>
            <a:pPr algn="ctr">
              <a:lnSpc>
                <a:spcPts val="15527"/>
              </a:lnSpc>
            </a:pPr>
            <a:r>
              <a:rPr lang="en-US" sz="13740">
                <a:solidFill>
                  <a:srgbClr val="A74B4B"/>
                </a:solidFill>
                <a:latin typeface="Mango AC"/>
                <a:ea typeface="Mango AC"/>
                <a:cs typeface="Mango AC"/>
                <a:sym typeface="Mango AC"/>
              </a:rPr>
              <a:t>TERIMA</a:t>
            </a:r>
          </a:p>
          <a:p>
            <a:pPr algn="ctr">
              <a:lnSpc>
                <a:spcPts val="15527"/>
              </a:lnSpc>
            </a:pPr>
            <a:r>
              <a:rPr lang="en-US" sz="13740">
                <a:solidFill>
                  <a:srgbClr val="A74B4B"/>
                </a:solidFill>
                <a:latin typeface="Mango AC"/>
                <a:ea typeface="Mango AC"/>
                <a:cs typeface="Mango AC"/>
                <a:sym typeface="Mango AC"/>
              </a:rPr>
              <a:t>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DAG5Sczkzlw</dc:identifier>
  <dcterms:modified xsi:type="dcterms:W3CDTF">2011-08-01T06:04:30Z</dcterms:modified>
  <cp:revision>1</cp:revision>
  <dc:title>perkembangan teknologi</dc:title>
</cp:coreProperties>
</file>